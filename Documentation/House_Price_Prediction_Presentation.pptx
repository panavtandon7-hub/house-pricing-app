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 Score</c:v>
                </c:pt>
              </c:strCache>
            </c:strRef>
          </c:tx>
          <c:spPr>
            <a:solidFill>
              <a:srgbClr val="D977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0.87</c:v>
                </c:pt>
                <c:pt idx="2">
                  <c:v>0.882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2"/>
          <c:min val="0.8"/>
        </c:scaling>
        <c:delete val="0"/>
        <c:axPos val="b"/>
        <c:majorGridlines>
          <c:spPr>
            <a:ln w="12700" cap="flat">
              <a:solidFill>
                <a:srgbClr val="E5E1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B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PRICE PREDICTION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real estate prices from area, location, rooms, age &amp; amenities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280160" cy="54864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</a:rPr>
              <a:t>AIML Summer Internship 2026  |  IIHMF, MNNIT Allahabad, Prayagraj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</a:rPr>
              <a:t>Capstone Project 2  • 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house price prediction is hard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buyers, sellers, and agents rely on gut feel and comparables to price property — a slow, inconsistent process that misses how many factors interact at once.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0" y="15544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EFEA"/>
          </a:solidFill>
          <a:ln w="12700">
            <a:solidFill>
              <a:srgbClr val="F2E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</a:rPr>
              <a:t>Multiple interacting factors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95160" y="19933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Area, rooms, age, location and amenities all move price together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0" y="27889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EFEA"/>
          </a:solidFill>
          <a:ln w="12700">
            <a:solidFill>
              <a:srgbClr val="F2E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2880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</a:rPr>
              <a:t>Inconsistent manual estimates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0" y="32278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Different agents price the same property differently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40233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EFEA"/>
          </a:solidFill>
          <a:ln w="12700">
            <a:solidFill>
              <a:srgbClr val="F2E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4114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</a:rPr>
              <a:t>No fast, data-driven baseline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44622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Buyers/sellers lack a quick, defensible reference price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regression model that predicts house price from property features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explore a realistic housing dataset end-to-end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246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features that capture value drivers beyond raw inputs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0233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multiple ML models and select the best performer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8006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model as an interactive web app for live predictions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</a:rPr>
              <a:t>1,400 property records  •  11 raw features  •  regression target: Price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03520" cy="502920"/>
          </a:xfrm>
          <a:prstGeom prst="rect">
            <a:avLst/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</a:rPr>
              <a:t>Area_SqFt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2011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Numeric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303520" cy="502920"/>
          </a:xfrm>
          <a:prstGeom prst="rect">
            <a:avLst/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</a:rPr>
              <a:t>Bedrooms / Bathrooms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606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Numeric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03520" cy="502920"/>
          </a:xfrm>
          <a:prstGeom prst="rect">
            <a:avLst/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00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</a:rPr>
              <a:t>Age_Years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Numeric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03520" cy="502920"/>
          </a:xfrm>
          <a:prstGeom prst="rect">
            <a:avLst/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94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</a:rPr>
              <a:t>Location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794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Categorical (5 zones)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303520" cy="502920"/>
          </a:xfrm>
          <a:prstGeom prst="rect">
            <a:avLst/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</a:rPr>
              <a:t>Furnishing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Categorical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303520" cy="502920"/>
          </a:xfrm>
          <a:prstGeom prst="rect">
            <a:avLst/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83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</a:rPr>
              <a:t>Garage / Garden / Pool / Near_School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4983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Binary flags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01168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C"/>
                </a:solidFill>
              </a:rPr>
              <a:t>Data quality realities built 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2743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A"/>
                </a:solidFill>
              </a:rPr>
              <a:t>•  ~2-3% missing values across key columns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200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A"/>
                </a:solidFill>
              </a:rPr>
              <a:t>•  25 duplicate rows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3657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A"/>
                </a:solidFill>
              </a:rPr>
              <a:t>•  Genuine outliers in price &amp; area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937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42"/>
                </a:solidFill>
              </a:rPr>
              <a:t>Handled explicitly in the preprocessing phase (next).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The ML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3774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Problem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Understanding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874520" y="237744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237744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23774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Collection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66160" y="237744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86200" y="237744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3774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Preprocessing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57800" y="237744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77840" y="237744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3774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EDA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49440" y="237744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69480" y="237744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3774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Feature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Engineering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41080" y="237744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61120" y="237744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23774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Building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332720" y="237744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52760" y="237744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52760" y="23774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Evaluation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2024360" y="237744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44400" y="237744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0" y="23774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1EC"/>
                </a:solidFill>
              </a:rPr>
              <a:t>Deployment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</a:rPr>
              <a:t>Each phase produces a concrete artifact — cleaned data, plots, engineered features, a trained model, and a deployed app.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" cy="685800"/>
          </a:xfrm>
          <a:prstGeom prst="rect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</a:rPr>
              <a:t>Missing values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1645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Filled numeric columns with median, categorical with mode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73152" cy="685800"/>
          </a:xfrm>
          <a:prstGeom prst="rect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</a:rPr>
              <a:t>Duplicates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2468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25 duplicate rows identified and removed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3152" cy="685800"/>
          </a:xfrm>
          <a:prstGeom prst="rect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91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</a:rPr>
              <a:t>Outliers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32918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IQR capping applied to Price and Area_SqFt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73152" cy="685800"/>
          </a:xfrm>
          <a:prstGeom prst="rect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</a:rPr>
              <a:t>Encoding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4114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One-hot encoding for Location and Furnishing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73152" cy="685800"/>
          </a:xfrm>
          <a:prstGeom prst="rect">
            <a:avLst/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37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</a:rPr>
              <a:t>Scaling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4937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StandardScaler applied to all numeric features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EXPLORATION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2800" dirty="0"/>
          </a:p>
        </p:txBody>
      </p:sp>
      <p:pic>
        <p:nvPicPr>
          <p:cNvPr id="4" name="Image 0" descr="/home/claude/HousePricePrediction/Documentation/figures/eda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</a:rPr>
              <a:t>Key observations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0" y="2103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•  Price is right-skewed — most homes cluster mid-range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2880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•  Downtown commands a clear premium over other zones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3657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•  Area is the single strongest price driver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EXPLORATION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Correlations</a:t>
            </a:r>
            <a:endParaRPr lang="en-US" sz="2800" dirty="0"/>
          </a:p>
        </p:txBody>
      </p:sp>
      <p:pic>
        <p:nvPicPr>
          <p:cNvPr id="4" name="Image 0" descr="/home/claude/HousePricePrediction/Documentation/figure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71600"/>
            <a:ext cx="54864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</a:rPr>
              <a:t>Strongest correlations with Price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3"/>
                </a:solidFill>
              </a:rPr>
              <a:t>Area_SqFt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69264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42"/>
                </a:solidFill>
              </a:rPr>
              <a:t>+0.74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3"/>
                </a:solidFill>
              </a:rPr>
              <a:t>Pool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9264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42"/>
                </a:solidFill>
              </a:rPr>
              <a:t>+0.12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3"/>
                </a:solidFill>
              </a:rPr>
              <a:t>Bathrooms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9264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42"/>
                </a:solidFill>
              </a:rPr>
              <a:t>+0.10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3"/>
                </a:solidFill>
              </a:rPr>
              <a:t>Age_Years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9264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42"/>
                </a:solidFill>
              </a:rPr>
              <a:t>-0.12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</a:rPr>
              <a:t>Linear 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Baseline — interpretable linear relationship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Ensemble of decision trees, captures non-linearity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2EFEA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</a:rPr>
              <a:t>Gradient Boosting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0" y="2880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Sequential boosting — strongest performer here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</a:rPr>
              <a:t>Note: Gradient Boosting is used as an XGBoost-equivalent (same boosting family); swap in xgboost.XGBRegressor directly where internet access allows installing it.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20240"/>
          <a:ext cx="4754880" cy="18288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1EC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1EC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1EC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1EC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Linear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22,657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36,769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0.850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22,546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34,167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0.870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20,449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32,602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3"/>
                          </a:solidFill>
                        </a:rPr>
                        <a:t>0.882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58000" y="4023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</a:rPr>
              <a:t>Gradient Boosting wins on every metric — lowest error, highest R².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 &amp; Deployment</a:t>
            </a:r>
            <a:endParaRPr lang="en-US" sz="2800" dirty="0"/>
          </a:p>
        </p:txBody>
      </p:sp>
      <p:pic>
        <p:nvPicPr>
          <p:cNvPr id="4" name="Image 0" descr="/home/claude/HousePricePrediction/Documentation/figures/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12064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</a:rPr>
              <a:t>Deployed as a Streamlit app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26480" y="2240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•  User enters area, rooms, age, location &amp; amenities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12648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•  App returns an instant price estimate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26480" y="3246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•  Model performance table available inline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•  Run locally: streamlit run app.py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House Price Prediction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42"/>
                </a:solidFill>
              </a:rPr>
              <a:t>CONCLUSION &amp; 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deployed model that turns property details into a defensible price estimate.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23375C"/>
          </a:solidFill>
          <a:ln w="12700">
            <a:solidFill>
              <a:srgbClr val="233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</a:rPr>
              <a:t>What we achieved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CE6"/>
                </a:solidFill>
              </a:rPr>
              <a:t>•  End-to-end ML lifecycle, phase by phase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CE6"/>
                </a:solidFill>
              </a:rPr>
              <a:t>•  3 models trained &amp; fairly compared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CE6"/>
                </a:solidFill>
              </a:rPr>
              <a:t>•  Best model: Gradient Boosting, R² = 0.88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CE6"/>
                </a:solidFill>
              </a:rPr>
              <a:t>•  Deployed as an interactive app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D9774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3"/>
                </a:solidFill>
              </a:rPr>
              <a:t>•  Train on a real, larger housing dataset (Kaggle/UCI)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3"/>
                </a:solidFill>
              </a:rPr>
              <a:t>•  Add hyperparameter tuning (GridSearch/Optuna)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3749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3"/>
                </a:solidFill>
              </a:rPr>
              <a:t>•  Try real XGBoost / LightGBM / neural nets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3"/>
                </a:solidFill>
              </a:rPr>
              <a:t>•  Host the app publicly (Streamlit Cloud)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2026-07-13T05:40:50Z</dcterms:created>
  <dcterms:modified xsi:type="dcterms:W3CDTF">2026-07-13T05:40:50Z</dcterms:modified>
</cp:coreProperties>
</file>